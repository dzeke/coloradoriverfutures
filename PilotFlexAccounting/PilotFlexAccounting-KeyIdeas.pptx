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7" r:id="rId4"/>
    <p:sldId id="259" r:id="rId5"/>
    <p:sldId id="261" r:id="rId6"/>
    <p:sldId id="262" r:id="rId7"/>
    <p:sldId id="25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AF8"/>
    <a:srgbClr val="FF6565"/>
    <a:srgbClr val="F3F7FB"/>
    <a:srgbClr val="FC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B7EB-B87F-49BE-B0DA-B90D42CB9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DDC9F-2F75-431B-8A1F-BB4844D5A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C6684-96B9-4E4C-86B4-C1AF4FAA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619B3-0942-4182-842C-99D5C539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9779E-66FC-4242-B765-0298B90F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9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964F-093D-48BC-B359-8C5C23F3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32DC1-56BF-4BAE-B7ED-3BD02AE7D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2A7-5398-4176-A40F-E71AFC3A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FE31-FEB5-42E1-9F37-3093E03B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3178F-52FF-46DD-8468-E5FB33DD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0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7A8C-9494-4FD2-B090-F4EFC2F9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FAA47-4B7E-4AD7-B155-815627C0E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10DEB-03E2-4D4F-88FF-7A17D94A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9624F-06B4-4A9C-92B5-DA16535C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FF063-2468-4760-96BA-E2C323483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7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6CB6E-6F58-41DE-A449-520FD417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F433-EFFE-4EB5-B34F-AB16FAC20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C5B95-0BDF-4124-BCEB-66EF7F47C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2B327-DDAA-4851-AB11-B074ED0AE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D089F-94E0-4EA1-962C-85FE70D9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21C91-B018-47B5-93F7-9A60C2E0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1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2C395-9351-4461-AC42-4E04807EF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49390-A5AD-44EF-8197-5E7FDBBE4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7A0C0-6D6B-4D73-8385-2EE3C9E67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2465F-5A33-481E-964E-6A2097C87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A5699-631E-425F-8BF9-851005F54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D7232-722A-4690-A86B-6B1CD3FD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58C1E-B3D0-4A26-AEEA-122A2D8B1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BB400-8B41-4169-A127-1F69407F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9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ED67-0AE4-4CC8-9775-C57769A8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1E16C-83A3-4C76-935E-1B1D1F6F6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1B373-2A4C-4115-B090-C4D3758C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A2B3D-5DFA-4623-9F87-BFB87CF2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6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81114-AA8D-43A7-85EC-FD5FD72D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DE806-2D8C-4566-8B49-9D190CB3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E32B6-589E-4B98-8B9F-145D63F0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5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B63B-8F07-4FAB-A2BF-2A04BD43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FD548-2C37-42D3-A581-0BE90FB6D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6DE0A-BED3-4AF6-9916-BA1E242D8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3C59B-8F52-4A51-87B7-BD62EFF53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3BD13-558D-45A9-8596-D0FF71AC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231DE-0946-403B-9ACD-87453F2A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5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8410-5ADA-4A89-BEE2-A44E0256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A5D97-C469-4C3A-A395-1425CF4F6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29062-9224-41EF-8AC9-5CDB0207A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3767E-2147-43D1-AE69-979C01CBC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0B9CA-92E8-4F57-BACE-2D8B55C0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DC916-B216-4025-A1AD-98FCE5CC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4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5FD6D-02F6-4943-8C9C-052F2E72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20466-2E07-44D5-855C-14D7C7C9C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5482C-B6FA-45BE-8C9F-73C75158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BBBF-7F30-4A34-85F0-201C78635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F583B-CC3F-41FF-A92F-9C5CD9ED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4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6E1709-792D-4436-896C-19776E750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4497F-C314-4C99-BC35-00E3D3063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C4DE1-510C-4334-80A1-D89223EF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03F19-25B5-4402-A868-7229D02E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784D5-10DC-4590-AE1F-D6B6F875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7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5D81B-8BC7-42A4-BE59-1547DEA87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121D6-3C9A-48C8-B557-C35ECD3F4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15AC0-F279-4534-8C5C-EDF5A6274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95A85-0000-41C1-B1AB-596518EE5666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F166F-DC70-4684-A49D-D8D39321E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6CFD0-CB1D-46ED-B6D0-18D62572D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9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rosenberg.usu.edu/" TargetMode="External"/><Relationship Id="rId2" Type="http://schemas.openxmlformats.org/officeDocument/2006/relationships/hyperlink" Target="mailto:david.rosenberg@usu.ed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zeke/ColoradoRiverFutures/tree/master/PilotFlexAccount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43C6-8CAE-4E27-9F66-CD99DA143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969" y="1122363"/>
            <a:ext cx="10921041" cy="23876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omic Sans MS" panose="030F0702030302020204" pitchFamily="66" charset="0"/>
              </a:rPr>
              <a:t>Request for contributions:</a:t>
            </a:r>
            <a:br>
              <a:rPr lang="en-US" sz="2400" b="1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en-US" sz="2800" b="1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Comic Sans MS" panose="030F0702030302020204" pitchFamily="66" charset="0"/>
              </a:rPr>
              <a:t>Pilot test flex accounting to encourage more water conservation in a combined Lake Powell-Lake Mead system?</a:t>
            </a:r>
            <a:endParaRPr lang="en-US" sz="280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64A08-10CD-4D82-862D-6A0AD6252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4159" y="4907756"/>
            <a:ext cx="3844506" cy="1655762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Comic Sans MS" panose="030F0702030302020204" pitchFamily="66" charset="0"/>
              </a:rPr>
              <a:t>David E. Rosenberg</a:t>
            </a:r>
          </a:p>
          <a:p>
            <a:r>
              <a:rPr lang="en-US" sz="2200" dirty="0">
                <a:latin typeface="Comic Sans MS" panose="030F0702030302020204" pitchFamily="66" charset="0"/>
              </a:rPr>
              <a:t>@</a:t>
            </a:r>
            <a:r>
              <a:rPr lang="en-US" sz="2200" dirty="0" err="1">
                <a:latin typeface="Comic Sans MS" panose="030F0702030302020204" pitchFamily="66" charset="0"/>
              </a:rPr>
              <a:t>WaterModeler</a:t>
            </a:r>
            <a:endParaRPr lang="en-US" sz="2200" dirty="0">
              <a:latin typeface="Comic Sans MS" panose="030F0702030302020204" pitchFamily="66" charset="0"/>
            </a:endParaRPr>
          </a:p>
          <a:p>
            <a:r>
              <a:rPr lang="en-US" sz="2200" dirty="0">
                <a:latin typeface="Comic Sans MS" panose="030F0702030302020204" pitchFamily="66" charset="0"/>
                <a:hlinkClick r:id="rId2"/>
              </a:rPr>
              <a:t>david.rosenberg@usu.edu</a:t>
            </a:r>
            <a:endParaRPr lang="en-US" sz="2200" dirty="0">
              <a:latin typeface="Comic Sans MS" panose="030F0702030302020204" pitchFamily="66" charset="0"/>
            </a:endParaRPr>
          </a:p>
          <a:p>
            <a:r>
              <a:rPr lang="en-US" sz="2200" dirty="0">
                <a:latin typeface="Comic Sans MS" panose="030F0702030302020204" pitchFamily="66" charset="0"/>
                <a:hlinkClick r:id="rId3"/>
              </a:rPr>
              <a:t>http://Rosenberg.usu.edu</a:t>
            </a:r>
            <a:r>
              <a:rPr lang="en-US" sz="2200" dirty="0">
                <a:latin typeface="Comic Sans MS" panose="030F0702030302020204" pitchFamily="66" charset="0"/>
              </a:rPr>
              <a:t> </a:t>
            </a:r>
          </a:p>
          <a:p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80041C-BF06-47AC-9B53-45B1DB0D8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98" y="5420208"/>
            <a:ext cx="1940785" cy="12319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488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A701EE-37A4-4BD5-BCE1-4F972D19FBF3}"/>
              </a:ext>
            </a:extLst>
          </p:cNvPr>
          <p:cNvSpPr txBox="1"/>
          <p:nvPr/>
        </p:nvSpPr>
        <p:spPr>
          <a:xfrm>
            <a:off x="682998" y="1605538"/>
            <a:ext cx="1071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1. Give managers more flexibility to consume and conserve water independent of other parties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B6A9C-4020-42A9-B035-664FA662D865}"/>
              </a:ext>
            </a:extLst>
          </p:cNvPr>
          <p:cNvSpPr txBox="1"/>
          <p:nvPr/>
        </p:nvSpPr>
        <p:spPr>
          <a:xfrm>
            <a:off x="6377321" y="4586309"/>
            <a:ext cx="5019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Adhere to prior agreements as much as possible</a:t>
            </a:r>
          </a:p>
        </p:txBody>
      </p:sp>
    </p:spTree>
    <p:extLst>
      <p:ext uri="{BB962C8B-B14F-4D97-AF65-F5344CB8AC3E}">
        <p14:creationId xmlns:p14="http://schemas.microsoft.com/office/powerpoint/2010/main" val="2045335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9A9C5E2-A204-47E7-9CEF-573175361E4F}"/>
              </a:ext>
            </a:extLst>
          </p:cNvPr>
          <p:cNvSpPr/>
          <p:nvPr/>
        </p:nvSpPr>
        <p:spPr>
          <a:xfrm>
            <a:off x="7330648" y="2242632"/>
            <a:ext cx="3821261" cy="26391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C73C7C-E13F-46AA-8196-58DDA21003F9}"/>
              </a:ext>
            </a:extLst>
          </p:cNvPr>
          <p:cNvSpPr txBox="1"/>
          <p:nvPr/>
        </p:nvSpPr>
        <p:spPr>
          <a:xfrm>
            <a:off x="10980250" y="1043748"/>
            <a:ext cx="11850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Upper Basin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3279EA-8729-4A49-A475-504E1D9EC0C0}"/>
              </a:ext>
            </a:extLst>
          </p:cNvPr>
          <p:cNvSpPr txBox="1"/>
          <p:nvPr/>
        </p:nvSpPr>
        <p:spPr>
          <a:xfrm>
            <a:off x="5875100" y="3663732"/>
            <a:ext cx="11612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Lower Basin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7A3CBFC-8625-477E-8AB8-19E08D505A1C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8139393" y="1551463"/>
            <a:ext cx="322820" cy="70680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0ADA926-30A8-4DF1-BF29-F1097CCF0108}"/>
              </a:ext>
            </a:extLst>
          </p:cNvPr>
          <p:cNvSpPr txBox="1"/>
          <p:nvPr/>
        </p:nvSpPr>
        <p:spPr>
          <a:xfrm>
            <a:off x="7051247" y="1012854"/>
            <a:ext cx="10881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Grand Canyon tributary flows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D53EFC-B897-4E3D-809B-1CB197ADF3FA}"/>
              </a:ext>
            </a:extLst>
          </p:cNvPr>
          <p:cNvSpPr txBox="1"/>
          <p:nvPr/>
        </p:nvSpPr>
        <p:spPr>
          <a:xfrm>
            <a:off x="6096000" y="5458529"/>
            <a:ext cx="1728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Mexico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1A9C082-8476-4AA6-BDDB-5B991A7D70AF}"/>
              </a:ext>
            </a:extLst>
          </p:cNvPr>
          <p:cNvCxnSpPr>
            <a:cxnSpLocks/>
          </p:cNvCxnSpPr>
          <p:nvPr/>
        </p:nvCxnSpPr>
        <p:spPr>
          <a:xfrm flipH="1">
            <a:off x="10856230" y="1620888"/>
            <a:ext cx="158744" cy="643698"/>
          </a:xfrm>
          <a:prstGeom prst="straightConnector1">
            <a:avLst/>
          </a:prstGeom>
          <a:ln w="508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EA6748E-54BC-4214-A636-C136897516B0}"/>
              </a:ext>
            </a:extLst>
          </p:cNvPr>
          <p:cNvSpPr/>
          <p:nvPr/>
        </p:nvSpPr>
        <p:spPr>
          <a:xfrm>
            <a:off x="6847885" y="4308889"/>
            <a:ext cx="442695" cy="1190134"/>
          </a:xfrm>
          <a:custGeom>
            <a:avLst/>
            <a:gdLst>
              <a:gd name="connsiteX0" fmla="*/ 744717 w 744717"/>
              <a:gd name="connsiteY0" fmla="*/ 0 h 1498862"/>
              <a:gd name="connsiteX1" fmla="*/ 141402 w 744717"/>
              <a:gd name="connsiteY1" fmla="*/ 339365 h 1498862"/>
              <a:gd name="connsiteX2" fmla="*/ 0 w 744717"/>
              <a:gd name="connsiteY2" fmla="*/ 1498862 h 149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4717" h="1498862">
                <a:moveTo>
                  <a:pt x="744717" y="0"/>
                </a:moveTo>
                <a:cubicBezTo>
                  <a:pt x="505119" y="44777"/>
                  <a:pt x="265521" y="89555"/>
                  <a:pt x="141402" y="339365"/>
                </a:cubicBezTo>
                <a:cubicBezTo>
                  <a:pt x="17283" y="589175"/>
                  <a:pt x="8641" y="1044018"/>
                  <a:pt x="0" y="1498862"/>
                </a:cubicBezTo>
              </a:path>
            </a:pathLst>
          </a:custGeom>
          <a:noFill/>
          <a:ln w="508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A9134D3-27A3-4F60-AD99-02CF6C692355}"/>
              </a:ext>
            </a:extLst>
          </p:cNvPr>
          <p:cNvSpPr/>
          <p:nvPr/>
        </p:nvSpPr>
        <p:spPr>
          <a:xfrm>
            <a:off x="6233474" y="4903463"/>
            <a:ext cx="1540086" cy="499621"/>
          </a:xfrm>
          <a:custGeom>
            <a:avLst/>
            <a:gdLst>
              <a:gd name="connsiteX0" fmla="*/ 0 w 3572759"/>
              <a:gd name="connsiteY0" fmla="*/ 0 h 499621"/>
              <a:gd name="connsiteX1" fmla="*/ 1376314 w 3572759"/>
              <a:gd name="connsiteY1" fmla="*/ 75414 h 499621"/>
              <a:gd name="connsiteX2" fmla="*/ 1649691 w 3572759"/>
              <a:gd name="connsiteY2" fmla="*/ 292231 h 499621"/>
              <a:gd name="connsiteX3" fmla="*/ 3572759 w 3572759"/>
              <a:gd name="connsiteY3" fmla="*/ 499621 h 4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2759" h="499621">
                <a:moveTo>
                  <a:pt x="0" y="0"/>
                </a:moveTo>
                <a:cubicBezTo>
                  <a:pt x="550683" y="13354"/>
                  <a:pt x="1101366" y="26709"/>
                  <a:pt x="1376314" y="75414"/>
                </a:cubicBezTo>
                <a:cubicBezTo>
                  <a:pt x="1651262" y="124119"/>
                  <a:pt x="1283617" y="221530"/>
                  <a:pt x="1649691" y="292231"/>
                </a:cubicBezTo>
                <a:cubicBezTo>
                  <a:pt x="2015765" y="362932"/>
                  <a:pt x="2794262" y="431276"/>
                  <a:pt x="3572759" y="499621"/>
                </a:cubicBezTo>
              </a:path>
            </a:pathLst>
          </a:custGeom>
          <a:noFill/>
          <a:ln w="571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F724A9B-8497-401D-A6D2-92EE159A34B3}"/>
              </a:ext>
            </a:extLst>
          </p:cNvPr>
          <p:cNvSpPr/>
          <p:nvPr/>
        </p:nvSpPr>
        <p:spPr>
          <a:xfrm>
            <a:off x="8879091" y="4059751"/>
            <a:ext cx="713232" cy="4743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49864B-9294-4E29-9734-A523A9FA0A14}"/>
              </a:ext>
            </a:extLst>
          </p:cNvPr>
          <p:cNvSpPr txBox="1"/>
          <p:nvPr/>
        </p:nvSpPr>
        <p:spPr>
          <a:xfrm>
            <a:off x="7605749" y="4527516"/>
            <a:ext cx="3146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Region of combined management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4260D08-1CE9-45EB-AC72-54A02B507BD4}"/>
              </a:ext>
            </a:extLst>
          </p:cNvPr>
          <p:cNvGrpSpPr/>
          <p:nvPr/>
        </p:nvGrpSpPr>
        <p:grpSpPr>
          <a:xfrm>
            <a:off x="8107243" y="3611298"/>
            <a:ext cx="781393" cy="922766"/>
            <a:chOff x="8194769" y="2917869"/>
            <a:chExt cx="781393" cy="929127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8C1A38B-CF86-43F5-91C2-C98DDD8891EE}"/>
                </a:ext>
              </a:extLst>
            </p:cNvPr>
            <p:cNvSpPr/>
            <p:nvPr/>
          </p:nvSpPr>
          <p:spPr>
            <a:xfrm>
              <a:off x="8220673" y="2917869"/>
              <a:ext cx="713232" cy="9291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9A200B3-76D4-478F-8B97-14D2A846CC11}"/>
                </a:ext>
              </a:extLst>
            </p:cNvPr>
            <p:cNvSpPr txBox="1"/>
            <p:nvPr/>
          </p:nvSpPr>
          <p:spPr>
            <a:xfrm>
              <a:off x="8194769" y="3195291"/>
              <a:ext cx="7813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Upper Basin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F37BEBE-1BC8-4A6D-BC16-FF1BD7EFC79E}"/>
              </a:ext>
            </a:extLst>
          </p:cNvPr>
          <p:cNvGrpSpPr/>
          <p:nvPr/>
        </p:nvGrpSpPr>
        <p:grpSpPr>
          <a:xfrm>
            <a:off x="7371449" y="3611298"/>
            <a:ext cx="737622" cy="922766"/>
            <a:chOff x="7591759" y="3007026"/>
            <a:chExt cx="737622" cy="922766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046A7DC-7210-411D-9AC4-0A007C1D3546}"/>
                </a:ext>
              </a:extLst>
            </p:cNvPr>
            <p:cNvSpPr/>
            <p:nvPr/>
          </p:nvSpPr>
          <p:spPr>
            <a:xfrm>
              <a:off x="7594522" y="3007026"/>
              <a:ext cx="713232" cy="9227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F520DFA-0C08-44DE-9BDA-D3602BDC2D63}"/>
                </a:ext>
              </a:extLst>
            </p:cNvPr>
            <p:cNvSpPr txBox="1"/>
            <p:nvPr/>
          </p:nvSpPr>
          <p:spPr>
            <a:xfrm>
              <a:off x="7591759" y="3278108"/>
              <a:ext cx="7376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Lower Basin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2D2C449B-9E78-4807-9778-D0916980C2F0}"/>
              </a:ext>
            </a:extLst>
          </p:cNvPr>
          <p:cNvSpPr txBox="1"/>
          <p:nvPr/>
        </p:nvSpPr>
        <p:spPr>
          <a:xfrm>
            <a:off x="8829145" y="4127630"/>
            <a:ext cx="813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Mexico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E60CD3E-6F06-4281-A03C-0690876DD08A}"/>
              </a:ext>
            </a:extLst>
          </p:cNvPr>
          <p:cNvSpPr/>
          <p:nvPr/>
        </p:nvSpPr>
        <p:spPr>
          <a:xfrm>
            <a:off x="10377018" y="3177028"/>
            <a:ext cx="711487" cy="1357036"/>
          </a:xfrm>
          <a:prstGeom prst="rect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423B0B4-06DF-4FD3-B985-7B545F0A815E}"/>
              </a:ext>
            </a:extLst>
          </p:cNvPr>
          <p:cNvSpPr txBox="1"/>
          <p:nvPr/>
        </p:nvSpPr>
        <p:spPr>
          <a:xfrm>
            <a:off x="11055042" y="2217864"/>
            <a:ext cx="1088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Natural inflow to Powell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8E0B068-F2C5-4EA7-9649-5E3FFA78AB04}"/>
              </a:ext>
            </a:extLst>
          </p:cNvPr>
          <p:cNvSpPr txBox="1"/>
          <p:nvPr/>
        </p:nvSpPr>
        <p:spPr>
          <a:xfrm rot="16200000">
            <a:off x="6478897" y="3424151"/>
            <a:ext cx="1412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Mead Release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2601616-E746-4C9A-9C5F-3051EDA4A067}"/>
              </a:ext>
            </a:extLst>
          </p:cNvPr>
          <p:cNvGrpSpPr/>
          <p:nvPr/>
        </p:nvGrpSpPr>
        <p:grpSpPr>
          <a:xfrm>
            <a:off x="48164" y="1079403"/>
            <a:ext cx="5196189" cy="4719797"/>
            <a:chOff x="340399" y="142952"/>
            <a:chExt cx="5196189" cy="471979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F3B9E16-A71E-403E-9DFD-D813D812569C}"/>
                </a:ext>
              </a:extLst>
            </p:cNvPr>
            <p:cNvCxnSpPr>
              <a:cxnSpLocks/>
              <a:stCxn id="3" idx="3"/>
              <a:endCxn id="4" idx="0"/>
            </p:cNvCxnSpPr>
            <p:nvPr/>
          </p:nvCxnSpPr>
          <p:spPr>
            <a:xfrm flipH="1">
              <a:off x="2792829" y="2181297"/>
              <a:ext cx="1045636" cy="509310"/>
            </a:xfrm>
            <a:prstGeom prst="straightConnector1">
              <a:avLst/>
            </a:prstGeom>
            <a:ln w="508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0544E752-8F64-4B5A-B0EC-74540F61DCC8}"/>
                </a:ext>
              </a:extLst>
            </p:cNvPr>
            <p:cNvSpPr/>
            <p:nvPr/>
          </p:nvSpPr>
          <p:spPr>
            <a:xfrm rot="3492123">
              <a:off x="3312736" y="1509501"/>
              <a:ext cx="1799324" cy="879933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Powell</a:t>
              </a:r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0F4542A6-E857-4A51-8492-62CBB9A8FD61}"/>
                </a:ext>
              </a:extLst>
            </p:cNvPr>
            <p:cNvSpPr/>
            <p:nvPr/>
          </p:nvSpPr>
          <p:spPr>
            <a:xfrm rot="3947483">
              <a:off x="1492253" y="2431053"/>
              <a:ext cx="1798602" cy="879933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Mead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1DDB8B2-5AE2-4FAF-9978-FC5390C47423}"/>
                </a:ext>
              </a:extLst>
            </p:cNvPr>
            <p:cNvSpPr/>
            <p:nvPr/>
          </p:nvSpPr>
          <p:spPr>
            <a:xfrm>
              <a:off x="3250276" y="345401"/>
              <a:ext cx="1826003" cy="3393649"/>
            </a:xfrm>
            <a:custGeom>
              <a:avLst/>
              <a:gdLst>
                <a:gd name="connsiteX0" fmla="*/ 42592 w 4492043"/>
                <a:gd name="connsiteY0" fmla="*/ 0 h 3393649"/>
                <a:gd name="connsiteX1" fmla="*/ 231128 w 4492043"/>
                <a:gd name="connsiteY1" fmla="*/ 1244338 h 3393649"/>
                <a:gd name="connsiteX2" fmla="*/ 1824257 w 4492043"/>
                <a:gd name="connsiteY2" fmla="*/ 3007150 h 3393649"/>
                <a:gd name="connsiteX3" fmla="*/ 4492043 w 4492043"/>
                <a:gd name="connsiteY3" fmla="*/ 3393649 h 339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2043" h="3393649">
                  <a:moveTo>
                    <a:pt x="42592" y="0"/>
                  </a:moveTo>
                  <a:cubicBezTo>
                    <a:pt x="-11612" y="371573"/>
                    <a:pt x="-65816" y="743147"/>
                    <a:pt x="231128" y="1244338"/>
                  </a:cubicBezTo>
                  <a:cubicBezTo>
                    <a:pt x="528072" y="1745529"/>
                    <a:pt x="1114105" y="2648932"/>
                    <a:pt x="1824257" y="3007150"/>
                  </a:cubicBezTo>
                  <a:cubicBezTo>
                    <a:pt x="2534409" y="3365368"/>
                    <a:pt x="3513226" y="3379508"/>
                    <a:pt x="4492043" y="3393649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680034D-93B6-497D-B813-04372E85FD97}"/>
                </a:ext>
              </a:extLst>
            </p:cNvPr>
            <p:cNvSpPr/>
            <p:nvPr/>
          </p:nvSpPr>
          <p:spPr>
            <a:xfrm>
              <a:off x="3429765" y="2190758"/>
              <a:ext cx="226243" cy="26395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B8B19B-9618-487C-8D35-130DE2D8691F}"/>
                </a:ext>
              </a:extLst>
            </p:cNvPr>
            <p:cNvSpPr txBox="1"/>
            <p:nvPr/>
          </p:nvSpPr>
          <p:spPr>
            <a:xfrm>
              <a:off x="4429001" y="142952"/>
              <a:ext cx="110758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Upper Basin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98AF48-B8FB-420C-B18C-1FF62230F3A8}"/>
                </a:ext>
              </a:extLst>
            </p:cNvPr>
            <p:cNvSpPr txBox="1"/>
            <p:nvPr/>
          </p:nvSpPr>
          <p:spPr>
            <a:xfrm>
              <a:off x="530018" y="2536684"/>
              <a:ext cx="11469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Lower Basin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76C289-105F-4879-A027-99C04E93F351}"/>
                </a:ext>
              </a:extLst>
            </p:cNvPr>
            <p:cNvCxnSpPr>
              <a:cxnSpLocks/>
            </p:cNvCxnSpPr>
            <p:nvPr/>
          </p:nvCxnSpPr>
          <p:spPr>
            <a:xfrm>
              <a:off x="2876846" y="1870391"/>
              <a:ext cx="255561" cy="677814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993AA4-CC16-4A76-8E4D-82BD4A81DDE9}"/>
                </a:ext>
              </a:extLst>
            </p:cNvPr>
            <p:cNvSpPr txBox="1"/>
            <p:nvPr/>
          </p:nvSpPr>
          <p:spPr>
            <a:xfrm>
              <a:off x="1934496" y="894957"/>
              <a:ext cx="12335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Grand Canyon tributary flows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EFF8EB5-7C62-484E-9DC0-28B8FA756F4C}"/>
                </a:ext>
              </a:extLst>
            </p:cNvPr>
            <p:cNvSpPr txBox="1"/>
            <p:nvPr/>
          </p:nvSpPr>
          <p:spPr>
            <a:xfrm rot="1345138">
              <a:off x="3693983" y="3265408"/>
              <a:ext cx="12190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Lee Ferry</a:t>
              </a:r>
            </a:p>
            <a:p>
              <a:pPr algn="ctr"/>
              <a:r>
                <a:rPr lang="en-US" sz="1600" b="1" dirty="0"/>
                <a:t>Compact point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BDB1B44-86FF-444E-86FF-7F5853BD89C3}"/>
                </a:ext>
              </a:extLst>
            </p:cNvPr>
            <p:cNvSpPr txBox="1"/>
            <p:nvPr/>
          </p:nvSpPr>
          <p:spPr>
            <a:xfrm>
              <a:off x="340399" y="4339529"/>
              <a:ext cx="22530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Mexico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0D6749D-9E7E-46EF-A5C9-AB7714CAA9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7785" y="339679"/>
              <a:ext cx="145344" cy="1235687"/>
            </a:xfrm>
            <a:prstGeom prst="straightConnector1">
              <a:avLst/>
            </a:prstGeom>
            <a:ln w="508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7D8557A-1A5F-48E4-B415-B3F00A27E595}"/>
                </a:ext>
              </a:extLst>
            </p:cNvPr>
            <p:cNvSpPr/>
            <p:nvPr/>
          </p:nvSpPr>
          <p:spPr>
            <a:xfrm>
              <a:off x="1466902" y="3035431"/>
              <a:ext cx="503300" cy="1289962"/>
            </a:xfrm>
            <a:custGeom>
              <a:avLst/>
              <a:gdLst>
                <a:gd name="connsiteX0" fmla="*/ 744717 w 744717"/>
                <a:gd name="connsiteY0" fmla="*/ 0 h 1498862"/>
                <a:gd name="connsiteX1" fmla="*/ 141402 w 744717"/>
                <a:gd name="connsiteY1" fmla="*/ 339365 h 1498862"/>
                <a:gd name="connsiteX2" fmla="*/ 0 w 744717"/>
                <a:gd name="connsiteY2" fmla="*/ 1498862 h 149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4717" h="1498862">
                  <a:moveTo>
                    <a:pt x="744717" y="0"/>
                  </a:moveTo>
                  <a:cubicBezTo>
                    <a:pt x="505119" y="44777"/>
                    <a:pt x="265521" y="89555"/>
                    <a:pt x="141402" y="339365"/>
                  </a:cubicBezTo>
                  <a:cubicBezTo>
                    <a:pt x="17283" y="589175"/>
                    <a:pt x="8641" y="1044018"/>
                    <a:pt x="0" y="1498862"/>
                  </a:cubicBezTo>
                </a:path>
              </a:pathLst>
            </a:custGeom>
            <a:noFill/>
            <a:ln w="508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837BB64-4804-462B-9424-42F7970C627D}"/>
                </a:ext>
              </a:extLst>
            </p:cNvPr>
            <p:cNvSpPr/>
            <p:nvPr/>
          </p:nvSpPr>
          <p:spPr>
            <a:xfrm>
              <a:off x="866417" y="3660198"/>
              <a:ext cx="1642168" cy="499621"/>
            </a:xfrm>
            <a:custGeom>
              <a:avLst/>
              <a:gdLst>
                <a:gd name="connsiteX0" fmla="*/ 0 w 3572759"/>
                <a:gd name="connsiteY0" fmla="*/ 0 h 499621"/>
                <a:gd name="connsiteX1" fmla="*/ 1376314 w 3572759"/>
                <a:gd name="connsiteY1" fmla="*/ 75414 h 499621"/>
                <a:gd name="connsiteX2" fmla="*/ 1649691 w 3572759"/>
                <a:gd name="connsiteY2" fmla="*/ 292231 h 499621"/>
                <a:gd name="connsiteX3" fmla="*/ 3572759 w 3572759"/>
                <a:gd name="connsiteY3" fmla="*/ 499621 h 49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2759" h="499621">
                  <a:moveTo>
                    <a:pt x="0" y="0"/>
                  </a:moveTo>
                  <a:cubicBezTo>
                    <a:pt x="550683" y="13354"/>
                    <a:pt x="1101366" y="26709"/>
                    <a:pt x="1376314" y="75414"/>
                  </a:cubicBezTo>
                  <a:cubicBezTo>
                    <a:pt x="1651262" y="124119"/>
                    <a:pt x="1283617" y="221530"/>
                    <a:pt x="1649691" y="292231"/>
                  </a:cubicBezTo>
                  <a:cubicBezTo>
                    <a:pt x="2015765" y="362932"/>
                    <a:pt x="2794262" y="431276"/>
                    <a:pt x="3572759" y="499621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29C59BA-D27F-41A1-AAEB-8FF58CA15053}"/>
              </a:ext>
            </a:extLst>
          </p:cNvPr>
          <p:cNvSpPr txBox="1"/>
          <p:nvPr/>
        </p:nvSpPr>
        <p:spPr>
          <a:xfrm>
            <a:off x="340231" y="6180682"/>
            <a:ext cx="4563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A. 1922 to present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D5B767-1860-4AC1-B149-3EF51EEBD823}"/>
              </a:ext>
            </a:extLst>
          </p:cNvPr>
          <p:cNvSpPr txBox="1"/>
          <p:nvPr/>
        </p:nvSpPr>
        <p:spPr>
          <a:xfrm>
            <a:off x="6768301" y="6163283"/>
            <a:ext cx="4563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B. Combined system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125E6FD-8297-4895-95C7-ACF0860DC807}"/>
              </a:ext>
            </a:extLst>
          </p:cNvPr>
          <p:cNvSpPr txBox="1"/>
          <p:nvPr/>
        </p:nvSpPr>
        <p:spPr>
          <a:xfrm>
            <a:off x="10299018" y="3896343"/>
            <a:ext cx="905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Shared, Reserve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D10860-CB55-4B66-949E-1F34DFED7182}"/>
              </a:ext>
            </a:extLst>
          </p:cNvPr>
          <p:cNvSpPr txBox="1"/>
          <p:nvPr/>
        </p:nvSpPr>
        <p:spPr>
          <a:xfrm>
            <a:off x="1677967" y="190805"/>
            <a:ext cx="8518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2. Stretch the Lee Ferry Compact Point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8DA143-E1E4-42E9-BE5B-DECEECBDF2D6}"/>
              </a:ext>
            </a:extLst>
          </p:cNvPr>
          <p:cNvSpPr/>
          <p:nvPr/>
        </p:nvSpPr>
        <p:spPr>
          <a:xfrm>
            <a:off x="9630390" y="4066138"/>
            <a:ext cx="713232" cy="47431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9FCE00-AB7A-4923-85EE-A5120874DD87}"/>
              </a:ext>
            </a:extLst>
          </p:cNvPr>
          <p:cNvSpPr txBox="1"/>
          <p:nvPr/>
        </p:nvSpPr>
        <p:spPr>
          <a:xfrm>
            <a:off x="9571962" y="4140786"/>
            <a:ext cx="813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Other?</a:t>
            </a:r>
          </a:p>
        </p:txBody>
      </p:sp>
    </p:spTree>
    <p:extLst>
      <p:ext uri="{BB962C8B-B14F-4D97-AF65-F5344CB8AC3E}">
        <p14:creationId xmlns:p14="http://schemas.microsoft.com/office/powerpoint/2010/main" val="306343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4E6C9-B27C-4110-9A89-9D9733A9108C}"/>
              </a:ext>
            </a:extLst>
          </p:cNvPr>
          <p:cNvSpPr txBox="1"/>
          <p:nvPr/>
        </p:nvSpPr>
        <p:spPr>
          <a:xfrm>
            <a:off x="285744" y="2720832"/>
            <a:ext cx="1647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Available Water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685A4-B0B3-4428-B194-301AFA6B3728}"/>
              </a:ext>
            </a:extLst>
          </p:cNvPr>
          <p:cNvSpPr txBox="1"/>
          <p:nvPr/>
        </p:nvSpPr>
        <p:spPr>
          <a:xfrm>
            <a:off x="1904743" y="2905778"/>
            <a:ext cx="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E032E-4B54-46D8-A31D-45A4171A56DE}"/>
              </a:ext>
            </a:extLst>
          </p:cNvPr>
          <p:cNvSpPr txBox="1"/>
          <p:nvPr/>
        </p:nvSpPr>
        <p:spPr>
          <a:xfrm>
            <a:off x="2343723" y="2690335"/>
            <a:ext cx="1647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Account Balance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83D6F-1251-4D76-A130-B44BF732135E}"/>
              </a:ext>
            </a:extLst>
          </p:cNvPr>
          <p:cNvSpPr txBox="1"/>
          <p:nvPr/>
        </p:nvSpPr>
        <p:spPr>
          <a:xfrm>
            <a:off x="6247976" y="2690335"/>
            <a:ext cx="19366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Share of Evaporation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B7886-FBD7-492D-9ECC-CC5B745D2526}"/>
              </a:ext>
            </a:extLst>
          </p:cNvPr>
          <p:cNvSpPr txBox="1"/>
          <p:nvPr/>
        </p:nvSpPr>
        <p:spPr>
          <a:xfrm>
            <a:off x="4401702" y="2690335"/>
            <a:ext cx="14359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Share of Inflow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8A7CAA-3CCF-4A60-AA17-A27D8F7BA197}"/>
              </a:ext>
            </a:extLst>
          </p:cNvPr>
          <p:cNvSpPr txBox="1"/>
          <p:nvPr/>
        </p:nvSpPr>
        <p:spPr>
          <a:xfrm>
            <a:off x="8594941" y="2905778"/>
            <a:ext cx="1647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Purchases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3D1D9-3E59-42E6-BDE4-745CD71F4469}"/>
              </a:ext>
            </a:extLst>
          </p:cNvPr>
          <p:cNvSpPr txBox="1"/>
          <p:nvPr/>
        </p:nvSpPr>
        <p:spPr>
          <a:xfrm>
            <a:off x="10652916" y="2905778"/>
            <a:ext cx="1195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40FF1-7FC2-43C4-BBB9-926F81F08878}"/>
              </a:ext>
            </a:extLst>
          </p:cNvPr>
          <p:cNvSpPr txBox="1"/>
          <p:nvPr/>
        </p:nvSpPr>
        <p:spPr>
          <a:xfrm>
            <a:off x="3962722" y="2905778"/>
            <a:ext cx="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2BF7B-48A9-4EF6-A7AD-D6251F4FE9E7}"/>
              </a:ext>
            </a:extLst>
          </p:cNvPr>
          <p:cNvSpPr txBox="1"/>
          <p:nvPr/>
        </p:nvSpPr>
        <p:spPr>
          <a:xfrm>
            <a:off x="5808996" y="2905778"/>
            <a:ext cx="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F3A1A0-EEEE-4880-B3A6-76478DDDE27B}"/>
              </a:ext>
            </a:extLst>
          </p:cNvPr>
          <p:cNvSpPr txBox="1"/>
          <p:nvPr/>
        </p:nvSpPr>
        <p:spPr>
          <a:xfrm>
            <a:off x="8155961" y="2905778"/>
            <a:ext cx="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62F8BF-5818-4CD6-9CB1-F8547403947C}"/>
              </a:ext>
            </a:extLst>
          </p:cNvPr>
          <p:cNvSpPr txBox="1"/>
          <p:nvPr/>
        </p:nvSpPr>
        <p:spPr>
          <a:xfrm>
            <a:off x="10213940" y="2905778"/>
            <a:ext cx="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10A7E-5AEF-432D-A691-4CEC62BA8ADA}"/>
              </a:ext>
            </a:extLst>
          </p:cNvPr>
          <p:cNvSpPr txBox="1"/>
          <p:nvPr/>
        </p:nvSpPr>
        <p:spPr>
          <a:xfrm>
            <a:off x="1695484" y="501889"/>
            <a:ext cx="85184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3. Manage all available water not just prior conserved water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E6C3B2D1-A0D7-4BA9-BF57-B40E534FB472}"/>
              </a:ext>
            </a:extLst>
          </p:cNvPr>
          <p:cNvSpPr/>
          <p:nvPr/>
        </p:nvSpPr>
        <p:spPr>
          <a:xfrm rot="16200000">
            <a:off x="10038787" y="2345324"/>
            <a:ext cx="350305" cy="2945511"/>
          </a:xfrm>
          <a:prstGeom prst="leftBrace">
            <a:avLst>
              <a:gd name="adj1" fmla="val 54166"/>
              <a:gd name="adj2" fmla="val 50000"/>
            </a:avLst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46900-974F-4AC4-A6C5-39AAE4179846}"/>
              </a:ext>
            </a:extLst>
          </p:cNvPr>
          <p:cNvSpPr txBox="1"/>
          <p:nvPr/>
        </p:nvSpPr>
        <p:spPr>
          <a:xfrm>
            <a:off x="9502926" y="4072827"/>
            <a:ext cx="1479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535792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A701EE-37A4-4BD5-BCE1-4F972D19FBF3}"/>
              </a:ext>
            </a:extLst>
          </p:cNvPr>
          <p:cNvSpPr txBox="1"/>
          <p:nvPr/>
        </p:nvSpPr>
        <p:spPr>
          <a:xfrm>
            <a:off x="320511" y="705262"/>
            <a:ext cx="5882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4. Will you try a pilot numerical implementation?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A46AE-DD62-4568-B95F-2B570FEB8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169" y="2252199"/>
            <a:ext cx="6875528" cy="449258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511B4D-2BC1-4A61-9F0E-476D6D2DCBB1}"/>
              </a:ext>
            </a:extLst>
          </p:cNvPr>
          <p:cNvSpPr txBox="1"/>
          <p:nvPr/>
        </p:nvSpPr>
        <p:spPr>
          <a:xfrm>
            <a:off x="1898700" y="5217693"/>
            <a:ext cx="2725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  <a:hlinkClick r:id="rId3"/>
              </a:rPr>
              <a:t>Download link  </a:t>
            </a:r>
            <a:endParaRPr lang="en-US" sz="3200" dirty="0">
              <a:solidFill>
                <a:srgbClr val="7030A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C2A5E9-C19C-4DC7-A982-AC3456362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11" y="5014925"/>
            <a:ext cx="1768415" cy="99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87A56-D6A0-4A91-B4F4-8D8ECFDC9D0D}"/>
              </a:ext>
            </a:extLst>
          </p:cNvPr>
          <p:cNvSpPr txBox="1"/>
          <p:nvPr/>
        </p:nvSpPr>
        <p:spPr>
          <a:xfrm>
            <a:off x="4911365" y="2592371"/>
            <a:ext cx="62311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Shared governance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Major uncertainties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Natural flows – More droughts? More wet years? A mix?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Withdrawals – How much water will managers consume or conserve (store)?</a:t>
            </a:r>
          </a:p>
        </p:txBody>
      </p:sp>
    </p:spTree>
    <p:extLst>
      <p:ext uri="{BB962C8B-B14F-4D97-AF65-F5344CB8AC3E}">
        <p14:creationId xmlns:p14="http://schemas.microsoft.com/office/powerpoint/2010/main" val="2411005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492A52-4BBD-437D-BF37-1A4C03969D60}"/>
              </a:ext>
            </a:extLst>
          </p:cNvPr>
          <p:cNvSpPr txBox="1"/>
          <p:nvPr/>
        </p:nvSpPr>
        <p:spPr>
          <a:xfrm>
            <a:off x="3858096" y="715617"/>
            <a:ext cx="3409970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Invite Participant(s)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DECAB-18CB-4BC8-BCBA-0B9E96B26597}"/>
              </a:ext>
            </a:extLst>
          </p:cNvPr>
          <p:cNvSpPr txBox="1"/>
          <p:nvPr/>
        </p:nvSpPr>
        <p:spPr>
          <a:xfrm>
            <a:off x="3858095" y="2643763"/>
            <a:ext cx="3409953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Seek Feedback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123FCB-7316-4CAA-A4B7-AF2E5EF4834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5563072" y="1300392"/>
            <a:ext cx="9" cy="134337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6D22E91-37E9-4A30-9452-1F58611E0688}"/>
              </a:ext>
            </a:extLst>
          </p:cNvPr>
          <p:cNvSpPr txBox="1"/>
          <p:nvPr/>
        </p:nvSpPr>
        <p:spPr>
          <a:xfrm>
            <a:off x="3858088" y="1679690"/>
            <a:ext cx="3409970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Role Play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DAFCE4A-DE1D-4B99-91F2-7F424F502594}"/>
              </a:ext>
            </a:extLst>
          </p:cNvPr>
          <p:cNvCxnSpPr>
            <a:cxnSpLocks/>
            <a:stCxn id="7" idx="1"/>
            <a:endCxn id="4" idx="1"/>
          </p:cNvCxnSpPr>
          <p:nvPr/>
        </p:nvCxnSpPr>
        <p:spPr>
          <a:xfrm rot="10800000" flipH="1">
            <a:off x="3858094" y="1008005"/>
            <a:ext cx="1" cy="1928146"/>
          </a:xfrm>
          <a:prstGeom prst="bentConnector3">
            <a:avLst>
              <a:gd name="adj1" fmla="val -228600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950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207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Comic Sans MS</vt:lpstr>
      <vt:lpstr>Office Theme</vt:lpstr>
      <vt:lpstr>Request for contributions:  Pilot test flex accounting to encourage more water conservation in a combined Lake Powell-Lake Mead system?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</dc:creator>
  <cp:lastModifiedBy>david</cp:lastModifiedBy>
  <cp:revision>38</cp:revision>
  <dcterms:created xsi:type="dcterms:W3CDTF">2021-07-02T21:06:04Z</dcterms:created>
  <dcterms:modified xsi:type="dcterms:W3CDTF">2021-07-09T19:59:07Z</dcterms:modified>
</cp:coreProperties>
</file>